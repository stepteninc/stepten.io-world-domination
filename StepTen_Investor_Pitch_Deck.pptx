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0" y="13716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0D4FF"/>
                </a:solidFill>
              </a:rPr>
              <a:t>StepTen.io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46888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FFFFFF"/>
                </a:solidFill>
              </a:rPr>
              <a:t>The World's Most Advanced
AI-Powered SEO Content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9319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</a:rPr>
              <a:t>Raising $5M Series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68880" cy="274320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103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" b="1">
                <a:solidFill>
                  <a:srgbClr val="FF6B35"/>
                </a:solidFill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of AI-generated content
is penalized by Google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274320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920240"/>
            <a:ext cx="2103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" b="1">
                <a:solidFill>
                  <a:srgbClr val="FF6B35"/>
                </a:solidFill>
              </a:rPr>
              <a:t>8+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average time to create
one SEO-optimized article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2468880" cy="274320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20240"/>
            <a:ext cx="2103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" b="1">
                <a:solidFill>
                  <a:srgbClr val="FF6B35"/>
                </a:solidFill>
              </a:rPr>
              <a:t>$89B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0175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content marketing market
with no complete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8-Step AI Orchestration Pipeline with 5 Leading AI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SERP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82880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2024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Research &amp;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92024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Outline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82880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7999" y="192024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Content Creation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SEO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65176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74320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Quality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5176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74320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7. Internal Linking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59" y="2651760"/>
            <a:ext cx="19202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274320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8. Publish &amp;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Powered by 5 Leading AI Models
</a:t>
            </a:r>
            <a:r>
              <a:rPr sz="2200">
                <a:solidFill>
                  <a:srgbClr val="00D4FF"/>
                </a:solidFill>
              </a:rPr>
              <a:t>Claude • GPT-4 • Grok • Gemini • Perplexity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The Secret Weapon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11 Advanced SEO Features No Competitor Can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SERP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Internal Linking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37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Content Clusters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6459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7999" y="1737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NLP Entity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Snippet Optimizer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3317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Freshness Detector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3317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4231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27+ 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59" y="2331720"/>
            <a:ext cx="1920240" cy="548640"/>
          </a:xfrm>
          <a:prstGeom prst="roundRect">
            <a:avLst/>
          </a:prstGeom>
          <a:solidFill>
            <a:srgbClr val="1A284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24231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A/B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3931920"/>
            <a:ext cx="192024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023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Rank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79" y="3931920"/>
            <a:ext cx="192024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19" y="4023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Score Predictor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931920"/>
            <a:ext cx="192024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0233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Autonomous AI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Competitive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88720"/>
            <a:ext cx="13716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1188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A1128"/>
                </a:solidFill>
              </a:rPr>
              <a:t>StepTen.io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1371600" cy="457200"/>
          </a:xfrm>
          <a:prstGeom prst="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234440"/>
            <a:ext cx="1188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Jasper/Copy.ai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188720"/>
            <a:ext cx="1371600" cy="457200"/>
          </a:xfrm>
          <a:prstGeom prst="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234440"/>
            <a:ext cx="1188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SurferSEO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188720"/>
            <a:ext cx="1371600" cy="457200"/>
          </a:xfrm>
          <a:prstGeom prst="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234440"/>
            <a:ext cx="1188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Ahrefs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9164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Multi-AI 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64592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69164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64592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69164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64592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69164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69164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0574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SERP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01168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0574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01168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20574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201168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0574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01168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0574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42316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Content Clusters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237744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24231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237744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24231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37744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24231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37744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24231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278892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Internal Linking 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274320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27889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274320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27889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274320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27889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278892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15468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27+ Languages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310896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1546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310896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31546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Limited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10896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31546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Limited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310896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315468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3520439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Autonomous Agent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347472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3520439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47472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3520439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347472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3520439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347472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0" y="3520439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88620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Rank Tracking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384048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4640" y="38862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384048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06240" y="38862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384048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38862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3840480"/>
            <a:ext cx="1371600" cy="365760"/>
          </a:xfrm>
          <a:prstGeom prst="rect">
            <a:avLst/>
          </a:prstGeom>
          <a:solidFill>
            <a:srgbClr val="1A2847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388620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206240"/>
            <a:ext cx="22860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25196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A/B Testing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0" y="420624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4640" y="42519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00D4FF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0" y="420624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06240" y="42519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0" y="420624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42519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0" y="4206240"/>
            <a:ext cx="1371600" cy="365760"/>
          </a:xfrm>
          <a:prstGeom prst="rect">
            <a:avLst/>
          </a:prstGeom>
          <a:solidFill>
            <a:srgbClr val="0A1128"/>
          </a:solidFill>
          <a:ln w="6350">
            <a:solidFill>
              <a:srgbClr val="1A2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49440" y="4251960"/>
            <a:ext cx="1188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Market Opportunity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286000" cy="2286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$89B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Content Marketing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1371600"/>
            <a:ext cx="2286000" cy="2286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86000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$24B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260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SEO Software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371600"/>
            <a:ext cx="2286000" cy="2286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1737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3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2608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Agencies • SaaS •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Primary Target Segments:
</a:t>
            </a:r>
            <a:r>
              <a:rPr sz="1600">
                <a:solidFill>
                  <a:srgbClr val="FFFFFF"/>
                </a:solidFill>
              </a:rPr>
              <a:t>SEO Agencies (40%) • SaaS Companies (35%) • Enterprise Marketing Teams (25%)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468880" cy="228600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$299</a:t>
            </a:r>
            <a:r>
              <a:rPr sz="1400">
                <a:solidFill>
                  <a:srgbClr val="FFFFFF"/>
                </a:solidFill>
              </a:rPr>
              <a:t>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50 articles/mo
5 projects
Basic SEO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468880" cy="2286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$999</a:t>
            </a:r>
            <a:r>
              <a:rPr sz="1400">
                <a:solidFill>
                  <a:srgbClr val="FFFFFF"/>
                </a:solidFill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200 articles/mo
Unlimited projects
Advanced SEO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2468880" cy="2286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8288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Unlimited articles
White label
Dedicated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</a:rPr>
              <a:t>ACV
</a:t>
            </a:r>
            <a:r>
              <a:rPr sz="2800" b="1">
                <a:solidFill>
                  <a:srgbClr val="00D4FF"/>
                </a:solidFill>
              </a:rPr>
              <a:t>$25K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4048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</a:rPr>
              <a:t>Gross Margin
</a:t>
            </a:r>
            <a:r>
              <a:rPr sz="2800" b="1">
                <a:solidFill>
                  <a:srgbClr val="00D4FF"/>
                </a:solidFill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40480"/>
            <a:ext cx="1828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</a:rPr>
              <a:t>NDR
</a:t>
            </a:r>
            <a:r>
              <a:rPr sz="2800" b="1">
                <a:solidFill>
                  <a:srgbClr val="00D4FF"/>
                </a:solidFill>
              </a:rPr>
              <a:t>120%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100% Production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Database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15K+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Lines of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AI Models Integrated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56616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6576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27+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2062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Languages Supported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566160"/>
            <a:ext cx="2560320" cy="1097280"/>
          </a:xfrm>
          <a:prstGeom prst="roundRect">
            <a:avLst/>
          </a:prstGeom>
          <a:solidFill>
            <a:srgbClr val="1A284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D4FF"/>
                </a:solidFill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2194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Advanced SEO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</a:rPr>
              <a:t>$5M Raising • 18 Month Runway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5943600" cy="64008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011680"/>
            <a:ext cx="2377440" cy="6400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Product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4884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4884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00D4FF"/>
                </a:solidFill>
              </a:rPr>
              <a:t>$2.0M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834640"/>
            <a:ext cx="5943600" cy="64008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834640"/>
            <a:ext cx="208026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Sales &amp;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7180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7180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FF6B35"/>
                </a:solidFill>
              </a:rPr>
              <a:t>$1.75M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657600"/>
            <a:ext cx="5943600" cy="64008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657600"/>
            <a:ext cx="8915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AI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9476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9476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7C3AED"/>
                </a:solidFill>
              </a:rPr>
              <a:t>$750K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480560"/>
            <a:ext cx="5943600" cy="64008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4480560"/>
            <a:ext cx="594360" cy="64008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Operations &amp; 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177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6177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1A2847"/>
                </a:solidFill>
              </a:rPr>
              <a:t>$500K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Why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02336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AI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Multiple AI models now available with distinct strengths - orchestration is the new competitive advantage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4023360" cy="1371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Google's AI Crackdown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March 2024 update penalizing low-quality AI content - massive need for better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4023360" cy="1371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Content Arms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Companies need 10x more content to compete - manual processes can't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017520"/>
            <a:ext cx="4023360" cy="1371600"/>
          </a:xfrm>
          <a:prstGeom prst="roundRect">
            <a:avLst/>
          </a:prstGeom>
          <a:solidFill>
            <a:srgbClr val="1A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Market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Existing tools are point solutions - no one offers complete end-to-end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D4FF"/>
                </a:solidFill>
              </a:rPr>
              <a:t>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3200400"/>
          </a:xfrm>
          <a:prstGeom prst="roundRect">
            <a:avLst/>
          </a:prstGeom>
          <a:solidFill>
            <a:srgbClr val="1A2847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86200" y="1645920"/>
            <a:ext cx="1371600" cy="1371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2024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Stephen 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490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6B35"/>
                </a:solidFill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</a:rPr>
              <a:t>20+ years experience in SEO, AI, and SaaS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00D4FF"/>
                </a:solidFill>
              </a:rP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Help us build the future of
AI-powered content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6B35"/>
                </a:solidFill>
              </a:rPr>
              <a:t>Raising $5M Series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stephen@stepten.io
</a:t>
            </a:r>
            <a:r>
              <a:rPr sz="1800">
                <a:solidFill>
                  <a:srgbClr val="00D4FF"/>
                </a:solidFill>
              </a:rPr>
              <a:t>www.stepten.io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